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194560"/>
          </a:xfrm>
          <a:prstGeom prst="rect">
            <a:avLst/>
          </a:prstGeom>
          <a:solidFill>
            <a:srgbClr val="1A0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560320"/>
            <a:ext cx="12188952" cy="9144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663440"/>
            <a:ext cx="12188952" cy="9144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6B4EFF"/>
                </a:solidFill>
              </a:rPr>
              <a:t>hapi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2CB"/>
                </a:solidFill>
              </a:rPr>
              <a:t>FINTECH CASE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Democratizing investing in Latin America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Access to the US market from just US$5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Daniel Taboada · Benjamin Pereyra · Luis Sanchez
Jorge Ramirez · Santiago Wiesse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AA"/>
                </a:solidFill>
              </a:rPr>
              <a:t>Universidad del Pacífico · Sem. Fintech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325880"/>
            <a:ext cx="26060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4E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Product &amp; 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325880"/>
            <a:ext cx="26060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371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4EFF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Market Opportunity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325880"/>
            <a:ext cx="26060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371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4EFF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Competitive Landscape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41080" y="1325880"/>
            <a:ext cx="26060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37160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4EFF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0" y="178308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Business Model &amp; Revenue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2560320"/>
            <a:ext cx="26060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60603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4EFF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017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Customer Segments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54680" y="2560320"/>
            <a:ext cx="26060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60603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4EFF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017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Key Metrics &amp; Funding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2560320"/>
            <a:ext cx="26060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0" y="260603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4EFF"/>
                </a:solidFill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3017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SWOT Analysis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2560320"/>
            <a:ext cx="260604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606039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4EFF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0175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Strategic Outlook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01 · Product &amp; Technology — Company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261872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4EFF"/>
                </a:solidFill>
              </a:rPr>
              <a:t>2020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59" y="1938528"/>
            <a:ext cx="16459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Founded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7128" y="118872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1261872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4E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1938528"/>
            <a:ext cx="16459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Co-founders
(ex UP students)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14215" y="118872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59935" y="1261872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4EFF"/>
                </a:solidFill>
              </a:rP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9935" y="1938528"/>
            <a:ext cx="16459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Employees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61304" y="118872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1261872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4EFF"/>
                </a:solidFill>
              </a:rPr>
              <a:t>20+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07024" y="1938528"/>
            <a:ext cx="16459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Countries
in LATAM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08392" y="118872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2" y="1261872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4EFF"/>
                </a:solidFill>
              </a:rPr>
              <a:t>500K+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2" y="1938528"/>
            <a:ext cx="16459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Users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55480" y="1188720"/>
            <a:ext cx="17373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0" y="1261872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6B4EFF"/>
                </a:solidFill>
              </a:rPr>
              <a:t>US$5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1938528"/>
            <a:ext cx="16459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Min. investment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34640"/>
            <a:ext cx="11521440" cy="4572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971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The Origin 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3383280"/>
            <a:ext cx="11521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Three ex-UP students tried to invest in US stocks — found high minimums, big fees &amp; endless paperwork. So they built their own broker.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114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Core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4526280"/>
            <a:ext cx="11430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Stocks &amp; ETFs (12,000+ instruments) — zero commissions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73752"/>
            <a:ext cx="11430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Fractional shares from US$5  |  Crypto from US$1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5221224"/>
            <a:ext cx="11430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DRIP — automatic dividend reinvestment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5568696"/>
            <a:ext cx="11430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Hapi Prime subscription (US$9.99/mo): real-time prices, instant settlement, price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01 · Product &amp; Technology — Infrastructure &amp;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39496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4EFF"/>
                </a:solidFill>
              </a:rP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Clearing &amp; Custody → Apex Clearing Corp
  (same infra as major US brokers)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7432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Crypto → Bakkt Crypto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2-Factor Authentication + 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Only 37 employees — lean tech team
  enabled by outsourcing non-core infra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5852160" cy="51206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1887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B4EFF"/>
                </a:solidFill>
              </a:rPr>
              <a:t>Regulatory &amp;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783080"/>
            <a:ext cx="2011680" cy="3657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8288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SEC Registered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28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Hapi Securities LLC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788920"/>
            <a:ext cx="2011680" cy="3657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83463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FINRA 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834639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US broker-dealer rules apply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794760"/>
            <a:ext cx="2011680" cy="3657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3840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SIPC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840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Up to US$500,000 per account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4800600"/>
            <a:ext cx="2011680" cy="3657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4846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Note on Crypto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463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Crypto NOT covered by SIPC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02 · Market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3657600" cy="2011680"/>
          </a:xfrm>
          <a:prstGeom prst="rect">
            <a:avLst/>
          </a:prstGeom>
          <a:solidFill>
            <a:srgbClr val="0D1B2A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88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CB"/>
                </a:solidFill>
              </a:rPr>
              <a:t>US$15.23B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LATAM Fintech Market
(IMARC Group)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097280"/>
            <a:ext cx="3657600" cy="2011680"/>
          </a:xfrm>
          <a:prstGeom prst="rect">
            <a:avLst/>
          </a:prstGeom>
          <a:solidFill>
            <a:srgbClr val="0D1B2A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887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DC3545"/>
                </a:solidFill>
              </a:rPr>
              <a:t>~90%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031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Banking assets controlled
by just 5 institutions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097280"/>
            <a:ext cx="3749039" cy="2011680"/>
          </a:xfrm>
          <a:prstGeom prst="rect">
            <a:avLst/>
          </a:prstGeom>
          <a:solidFill>
            <a:srgbClr val="0D1B2A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18872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8A745"/>
                </a:solidFill>
              </a:rPr>
              <a:t>1M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1031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Users Hapi aims to reach
(CEO target, Gestión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337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Why now? Key Tailwinds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767328"/>
            <a:ext cx="5943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Rising smartphone &amp; internet penetration across LATAM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114800"/>
            <a:ext cx="5943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Local currencies losing value → demand for USD-denominated assets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462272"/>
            <a:ext cx="5943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Growing financial literacy and investment culture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809744"/>
            <a:ext cx="59436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Traditional banks ignoring small retail investors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337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4EFF"/>
                </a:solidFill>
              </a:rPr>
              <a:t>Hapi's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67328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Access US market from US$5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4114800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Zero commissions on stocks &amp; ETFs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62272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Sign up in &lt; 5 minutes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809744"/>
            <a:ext cx="5303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Spanish &amp; Portuguese UX + fin-ed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03 · Competitive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20116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2471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051560"/>
            <a:ext cx="13716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39" y="11247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Min. Invest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051560"/>
            <a:ext cx="155448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24712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Commissions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1051560"/>
            <a:ext cx="13716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94959" y="112471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SIPC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1051560"/>
            <a:ext cx="16459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79" y="112471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LATAM Focus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58200" y="1051560"/>
            <a:ext cx="182880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12471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Fractional Shares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563624"/>
            <a:ext cx="2011680" cy="475488"/>
          </a:xfrm>
          <a:prstGeom prst="rect">
            <a:avLst/>
          </a:prstGeom>
          <a:solidFill>
            <a:srgbClr val="E8F0FE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165506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4EFF"/>
                </a:solidFill>
              </a:rPr>
              <a:t>Hapi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1563624"/>
            <a:ext cx="1371600" cy="475488"/>
          </a:xfrm>
          <a:prstGeom prst="rect">
            <a:avLst/>
          </a:prstGeom>
          <a:solidFill>
            <a:srgbClr val="E8F0FE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39" y="165506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US$5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1563624"/>
            <a:ext cx="1554480" cy="475488"/>
          </a:xfrm>
          <a:prstGeom prst="rect">
            <a:avLst/>
          </a:prstGeom>
          <a:solidFill>
            <a:srgbClr val="E8F0FE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59" y="1655064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Zero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49240" y="1563624"/>
            <a:ext cx="1371600" cy="475488"/>
          </a:xfrm>
          <a:prstGeom prst="rect">
            <a:avLst/>
          </a:prstGeom>
          <a:solidFill>
            <a:srgbClr val="E8F0FE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59" y="165506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✔ $500K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59" y="1563624"/>
            <a:ext cx="1645920" cy="475488"/>
          </a:xfrm>
          <a:prstGeom prst="rect">
            <a:avLst/>
          </a:prstGeom>
          <a:solidFill>
            <a:srgbClr val="E8F0FE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79" y="1655064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✔ Primary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58200" y="1563624"/>
            <a:ext cx="1828800" cy="475488"/>
          </a:xfrm>
          <a:prstGeom prst="rect">
            <a:avLst/>
          </a:prstGeom>
          <a:solidFill>
            <a:srgbClr val="E8F0FE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1655064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075688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21671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Interactive Brokers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31720" y="207568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39" y="21671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US$0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2075688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4759" y="2167128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49240" y="2075688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59" y="21671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✔ $500K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59" y="2075688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12279" y="2167128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Partial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58200" y="2075688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03920" y="2167128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58775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" y="267919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Charles Schwab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331720" y="2587752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39" y="267919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US$0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2587752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94759" y="2679192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Zero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49240" y="2587752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94959" y="267919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✔ $500K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66559" y="2587752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2279" y="2679192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58200" y="2587752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03920" y="267919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3099816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" y="319125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XTB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31720" y="3099816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77439" y="319125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US$0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39" y="3099816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94759" y="3191256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Zero*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49240" y="3099816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94959" y="3191256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59" y="3099816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12279" y="3191256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Partial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58200" y="3099816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503920" y="3191256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361188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0040" y="37033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eToro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331720" y="3611880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77439" y="370332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US$10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39" y="3611880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94759" y="3703320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Zero*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49240" y="3611880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94959" y="370332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✘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59" y="3611880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12279" y="370332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Partial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58200" y="3611880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03920" y="37033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4123944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20040" y="4215383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Trii / Tyba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331720" y="4123944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77439" y="4215383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49039" y="4123944"/>
            <a:ext cx="1554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94759" y="4215383"/>
            <a:ext cx="1463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Low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49240" y="4123944"/>
            <a:ext cx="13716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94959" y="4215383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59" y="4123944"/>
            <a:ext cx="1645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12279" y="4215383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✔ Local only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58200" y="4123944"/>
            <a:ext cx="1828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503920" y="4215383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Limited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</a:rPr>
              <a:t>* zero commission on stocks but spreads may apply   ✘ = not applicable for LATAM users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74320" y="589788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4EFF"/>
                </a:solidFill>
              </a:rPr>
              <a:t>Hapi's Edge: Only platform combining SEC/FINRA/SIPC + zero commissions + LATAM-first UX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04 · Business Model &amp; Revenue Streams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1874519" cy="41148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25296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Payment for
Order 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600200"/>
            <a:ext cx="1874519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1691640"/>
            <a:ext cx="172821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PFOF — fees from routing
client orders to exchanges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67127" y="1188720"/>
            <a:ext cx="1874519" cy="41148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7" y="1225296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Hapi Prime
Subscription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67127" y="1600200"/>
            <a:ext cx="1874519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79" y="1691640"/>
            <a:ext cx="172821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US$9.99/mo — real-time
prices + instant settlement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05655" y="1188720"/>
            <a:ext cx="1874519" cy="411480"/>
          </a:xfrm>
          <a:prstGeom prst="rect">
            <a:avLst/>
          </a:prstGeom>
          <a:solidFill>
            <a:srgbClr val="F45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51375" y="1225296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Deposit &amp;
Withdrawal Fees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05655" y="1600200"/>
            <a:ext cx="1874519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45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8807" y="1691640"/>
            <a:ext cx="172821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0.9–1% on deposits
US$4.99–$10 withdrawals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44183" y="1188720"/>
            <a:ext cx="1874519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89903" y="1225296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Interest on
Idle Cash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4183" y="1600200"/>
            <a:ext cx="1874519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17336" y="1691640"/>
            <a:ext cx="172821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Earns yield on uninvested
cash in client accounts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2711" y="1188720"/>
            <a:ext cx="1874519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1225296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Crypto
Spread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82711" y="1600200"/>
            <a:ext cx="1874519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55863" y="1691640"/>
            <a:ext cx="172821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1% spread on crypto
trades via Bakkt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21239" y="1188720"/>
            <a:ext cx="1874519" cy="41148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9" y="1225296"/>
            <a:ext cx="1783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Closing
Fees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39" y="1600200"/>
            <a:ext cx="1874519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94391" y="1691640"/>
            <a:ext cx="1728216" cy="96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US$0.10 (whole shares)
US$0.15 (fractional)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2926080"/>
            <a:ext cx="11750040" cy="5486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3063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Business Model Philosophy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" y="3493008"/>
            <a:ext cx="11612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Low-ticket model: avg. position ~US$250 — monetizes through VOLUME &amp; 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3840480"/>
            <a:ext cx="11612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Zero-commission label builds trust &amp; acquisition; revenues hidden in PFOF + fees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" y="4187952"/>
            <a:ext cx="11612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PFOF controversial: SEC tightened disclosure (Rules 605 &amp; 606); restricted in Europe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" y="4535424"/>
            <a:ext cx="11612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Diversified streams reduce dependency on any single revenue source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05 · Customer Segments &amp; Value Proposition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1143000"/>
            <a:ext cx="3657600" cy="59436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Beginner
Investors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1737360"/>
            <a:ext cx="36576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89280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Students &amp; young professionals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67004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Want simple, mobile-first 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44728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Start from US$5 — fractional shares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422452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Zero commissions lower fear of fees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1376" y="1143000"/>
            <a:ext cx="3657600" cy="5943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42816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Long-term
Retail Investors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1376" y="1737360"/>
            <a:ext cx="36576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88536" y="189280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More experienced, portfolio builders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88536" y="267004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Seek USD exposure vs. local currency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88536" y="344728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Value SIPC protection up to US$500K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88536" y="422452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ETFs + DRIP for passive wealth building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0144" y="1143000"/>
            <a:ext cx="3657600" cy="594360"/>
          </a:xfrm>
          <a:prstGeom prst="rect">
            <a:avLst/>
          </a:prstGeom>
          <a:solidFill>
            <a:srgbClr val="F45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1583" y="1188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Crypto
Enthusiasts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0144" y="1737360"/>
            <a:ext cx="3657600" cy="4160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45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47304" y="189280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Tech-savvy, digital-native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47304" y="2670048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Invest from US$1 in crypto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47304" y="344728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Want one app for stocks + crypto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4224527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Note: crypto NOT SIPC-covered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" y="59893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4EFF"/>
                </a:solidFill>
              </a:rPr>
              <a:t>"Invest in the world's biggest market from your phone — from just US$5, in minutes, with US regulatory protection."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06 · Key Metrics, Unit Economics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User Growth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2560320" cy="34747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6459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Oct 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947672"/>
            <a:ext cx="25603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59" y="199339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4EFF"/>
                </a:solidFill>
              </a:rPr>
              <a:t>10,000
users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600200"/>
            <a:ext cx="2560320" cy="34747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6459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Nov 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1947672"/>
            <a:ext cx="25603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99339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4EFF"/>
                </a:solidFill>
              </a:rPr>
              <a:t>300,000
users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59" y="1600200"/>
            <a:ext cx="2560320" cy="347472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79" y="16459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59" y="1947672"/>
            <a:ext cx="25603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79" y="199339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B4EFF"/>
                </a:solidFill>
              </a:rPr>
              <a:t>500,000+
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600200"/>
            <a:ext cx="2560320" cy="347472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6459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19" y="1947672"/>
            <a:ext cx="256032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993392"/>
            <a:ext cx="24688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2CB"/>
                </a:solidFill>
              </a:rPr>
              <a:t>1,000,000
users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1097280"/>
            <a:ext cx="320040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115214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144475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CB"/>
                </a:solidFill>
              </a:rPr>
              <a:t>~US$40M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190195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(as of Nov 2023)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2377439"/>
            <a:ext cx="320040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2432303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Avg. 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72491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CB"/>
                </a:solidFill>
              </a:rPr>
              <a:t>~US$250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182111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per user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3657600"/>
            <a:ext cx="3200400" cy="1097280"/>
          </a:xfrm>
          <a:prstGeom prst="rect">
            <a:avLst/>
          </a:prstGeom>
          <a:solidFill>
            <a:srgbClr val="0D1B2A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3712463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Employees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400507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2CB"/>
                </a:solidFill>
              </a:rPr>
              <a:t>37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4462272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lean team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063240"/>
            <a:ext cx="8046720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Funding Rounds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657600"/>
            <a:ext cx="164592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3730752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3657600"/>
            <a:ext cx="118872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03120" y="373075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Amount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37560" y="3657600"/>
            <a:ext cx="502920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83279" y="373075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Investors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059936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59" y="413308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Pre-seed / Seed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4059936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03120" y="41330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US$2.7M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37560" y="4059936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83279" y="413308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Various angel / early investors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4718304"/>
            <a:ext cx="16459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59" y="479145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Sep 2023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400" y="4718304"/>
            <a:ext cx="11887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03120" y="479145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US$1.6M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37560" y="4718304"/>
            <a:ext cx="50292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83279" y="4791456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Utec Ventures, Unpopular Ventures,
Softeq Ventures, Mural Capital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376672"/>
            <a:ext cx="1645920" cy="594360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59" y="544982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4EFF"/>
                </a:solidFill>
              </a:rPr>
              <a:t>Total Raised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5376672"/>
            <a:ext cx="1188720" cy="594360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03120" y="544982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4EFF"/>
                </a:solidFill>
              </a:rPr>
              <a:t>US$4.3M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37560" y="5376672"/>
            <a:ext cx="5029200" cy="594360"/>
          </a:xfrm>
          <a:prstGeom prst="rect">
            <a:avLst/>
          </a:prstGeom>
          <a:solidFill>
            <a:srgbClr val="E8F0FE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383279" y="5449824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4EFF"/>
                </a:solidFill>
              </a:rPr>
              <a:t>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07 · SWOT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66928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1064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STRENGTHS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39"/>
            <a:ext cx="566928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Zero-commission + fractional shares from US$5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5681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SEC/FINRA registered + SIPC coverage up to US$500K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59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20+ LATAM countries — Spanish &amp; Portuguese 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61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Simple onboarding: &lt; 5 min sign-up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63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12,000+ instruments including ETFs &amp; crypto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051560"/>
            <a:ext cx="5669280" cy="41148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1106424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WEAKNESSES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463039"/>
            <a:ext cx="566928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5448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Low brand awareness outside LATAM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5681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Lacks advanced tools for expert traders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5915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Small team (37) — scalability pressure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6148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PFOF model faces regulatory scrutiny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638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Crypto not covered by SIPC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86200"/>
            <a:ext cx="5669280" cy="41148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94106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OPPORTUNITIES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297680"/>
            <a:ext cx="566928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3891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LATAM fintech market still growing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9145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Currency devaluation drives USD demand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937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Rising smartphone &amp; internet penetration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961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Low investment penetration → huge user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9846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Expand financial education content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886200"/>
            <a:ext cx="566928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3941063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THREATS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4297680"/>
            <a:ext cx="5669280" cy="2194560"/>
          </a:xfrm>
          <a:prstGeom prst="rect">
            <a:avLst/>
          </a:prstGeom>
          <a:solidFill>
            <a:srgbClr val="FFFFFF"/>
          </a:solidFill>
          <a:ln w="1524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38912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Global brokers (Schwab, IBKR) entering LATAM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791456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Regulatory fragmentation across 20+ countries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519379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PFOF restrictions could cut main revenue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596128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Local fintechs (Trii, Tyba) competing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599846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▸  Macro risk: US market downturns hit user trust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08 · Strategic Outlook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88952" cy="54864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697480" cy="411480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243584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Scale Users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2697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4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6916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Reach 1M users
via education + referrals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72968" y="1188720"/>
            <a:ext cx="2697480" cy="41148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243584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Deepen Revenue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72968" y="1600200"/>
            <a:ext cx="2697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64408" y="16916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Grow Prime subscriptions
&amp; reduce PFOF dependency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25896" y="1188720"/>
            <a:ext cx="269748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1243584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Regulatory Trust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25896" y="1600200"/>
            <a:ext cx="2697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17336" y="16916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Maintain SEC/FINRA standing
Navigate multi-country rules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78824" y="1188720"/>
            <a:ext cx="2697480" cy="411480"/>
          </a:xfrm>
          <a:prstGeom prst="rect">
            <a:avLst/>
          </a:prstGeom>
          <a:solidFill>
            <a:srgbClr val="F45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70263" y="1243584"/>
            <a:ext cx="2514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Product 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78824" y="1600200"/>
            <a:ext cx="2697480" cy="1417320"/>
          </a:xfrm>
          <a:prstGeom prst="rect">
            <a:avLst/>
          </a:prstGeom>
          <a:solidFill>
            <a:srgbClr val="FFFFFF"/>
          </a:solidFill>
          <a:ln w="19050">
            <a:solidFill>
              <a:srgbClr val="F45D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70263" y="1691640"/>
            <a:ext cx="2514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Add advanced tools
for intermediate traders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246120"/>
            <a:ext cx="1156716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383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Key Challenges to Navigate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822191"/>
            <a:ext cx="115671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Differentiate before global brokers replicate the LATAM-first approach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169663"/>
            <a:ext cx="115671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Continue investing in financial education to retain &amp; convert users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517136"/>
            <a:ext cx="115671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Diversify revenue to reduce exposure to PFOF regulatory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864608"/>
            <a:ext cx="115671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▸  Manage multi-country compliance without blowing up the cost structure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897880"/>
            <a:ext cx="11567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B4EFF"/>
                </a:solidFill>
              </a:rPr>
              <a:t>"The platform that wins LATAM will be the one that earns trust first — through regulation, education, and a UX that feels local."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B4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6B4EFF"/>
                </a:solidFill>
              </a:rPr>
              <a:t>hapi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2CB"/>
                </a:solidFill>
              </a:rPr>
              <a:t>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Daniel Taboada · Benjamin Pereyra · Luis Sanchez · Jorge Ramirez · Santiago Wiesse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349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77799"/>
                </a:solidFill>
              </a:rPr>
              <a:t>Universidad del Pacífico — Sem. Fintech —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