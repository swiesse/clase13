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4640"/>
            <a:ext cx="12188952" cy="4023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0D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p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29260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3200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8C8CB4"/>
                </a:solidFill>
              </a:rPr>
              <a:t>Final Case Study  ·  Fintech Seminar  ·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17320"/>
            <a:ext cx="64008" cy="192024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Democratizing
Investing in
Latin America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2B5"/>
                </a:solidFill>
              </a:rPr>
              <a:t>Access the US market from just US$5 · 500K+ users · 20+ countries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34840"/>
            <a:ext cx="5029200" cy="32004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B4D2"/>
                </a:solidFill>
              </a:rPr>
              <a:t>Daniel Taboada  ·  Benjamin Pereyra  ·  Luis Sanchez
Jorge Ramirez  ·  Santiago Wiesse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57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282A5"/>
                </a:solidFill>
              </a:rPr>
              <a:t>Universidad del Pacífico  ·  Fanny Mariana Díaz Galindo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F5F2"/>
                </a:solidFill>
              </a:rPr>
              <a:t>Hapi · Case Study 2026</a:t>
            </a:r>
          </a:p>
        </p:txBody>
      </p:sp>
      <p:pic>
        <p:nvPicPr>
          <p:cNvPr id="6" name="Picture 5" descr="hap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943600"/>
            <a:ext cx="2377440" cy="7132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777240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886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9235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Product &amp; Technology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68512" y="777240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886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62872" y="9235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36776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7465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68512" y="1636776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17465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1783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Business Model &amp; Revenue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496312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6426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Customer Segments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68512" y="2496312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26426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Key Metrics &amp; Funding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355848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3465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SWOT Analysis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68512" y="3355848"/>
            <a:ext cx="3474720" cy="658368"/>
          </a:xfrm>
          <a:prstGeom prst="rect">
            <a:avLst/>
          </a:prstGeom>
          <a:solidFill>
            <a:srgbClr val="00A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5672" y="34655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F5F2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5021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Strategic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5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868680"/>
            <a:ext cx="256032" cy="4572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56032" cy="45720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5"/>
                </a:solidFill>
              </a:rPr>
              <a:t>01 · Product &amp;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417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Built by investors,
for investors.</a:t>
            </a:r>
          </a:p>
        </p:txBody>
      </p:sp>
      <p:pic>
        <p:nvPicPr>
          <p:cNvPr id="8" name="Picture 7" descr="bg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57200"/>
            <a:ext cx="4572000" cy="6217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93192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C8DC"/>
                </a:solidFill>
              </a:rPr>
              <a:t>Three ex-UP students couldn't invest in US stocks without
high minimums, fees, and paperwork — so they built Hapi.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01 · PRODUCT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Platform at a Glance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94560"/>
            <a:ext cx="217627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286000"/>
            <a:ext cx="19933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3FFF"/>
                </a:solidFill>
              </a:rPr>
              <a:t>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907791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Founded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200400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66"/>
                </a:solidFill>
              </a:rPr>
              <a:t>By Dusko Kelez,
Piero Sifuentes,
Billy Caballero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2194560"/>
            <a:ext cx="217627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2286000"/>
            <a:ext cx="19933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3FFF"/>
                </a:solidFill>
              </a:rPr>
              <a:t>500K+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8" y="2907791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768" y="3200400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66"/>
                </a:solidFill>
              </a:rPr>
              <a:t>across 20+ countries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28616" y="2194560"/>
            <a:ext cx="217627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5" y="2286000"/>
            <a:ext cx="19933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3FFF"/>
                </a:solidFill>
              </a:rPr>
              <a:t>37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5" y="2907791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0055" y="3200400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66"/>
                </a:solidFill>
              </a:rPr>
              <a:t>lean, outsourced
infra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2904" y="2194560"/>
            <a:ext cx="217627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2286000"/>
            <a:ext cx="19933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3FFF"/>
                </a:solidFill>
              </a:rPr>
              <a:t>12,000+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2907791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Instruments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3200400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66"/>
                </a:solidFill>
              </a:rPr>
              <a:t>stocks, ETFs &amp; crypto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37192" y="2194560"/>
            <a:ext cx="2176272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28632" y="2286000"/>
            <a:ext cx="19933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3FFF"/>
                </a:solidFill>
              </a:rPr>
              <a:t>US$5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2907791"/>
            <a:ext cx="19933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Min. Investment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3200400"/>
            <a:ext cx="19933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5566"/>
                </a:solidFill>
              </a:rPr>
              <a:t>fractional shares
included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94760"/>
            <a:ext cx="11521440" cy="36576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913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Key Features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43400"/>
            <a:ext cx="3657600" cy="59436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4074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FF"/>
                </a:solidFill>
              </a:rPr>
              <a:t>Stocks &amp; ETFs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4074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Zero commissions on all trades, 12,000+ instruments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343400"/>
            <a:ext cx="3657600" cy="59436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44074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FF"/>
                </a:solidFill>
              </a:rPr>
              <a:t>Fractional shares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44074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Start with as little as US$5 — no high minimums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4343400"/>
            <a:ext cx="3657600" cy="59436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44074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FF"/>
                </a:solidFill>
              </a:rPr>
              <a:t>Crypto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4074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From US$1 via Bakkt Crypto Solutions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29200"/>
            <a:ext cx="3657600" cy="59436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093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FF"/>
                </a:solidFill>
              </a:rPr>
              <a:t>DRIP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5093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Auto-reinvest dividends — hands-free compounding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5029200"/>
            <a:ext cx="3657600" cy="59436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0" y="5093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FF"/>
                </a:solidFill>
              </a:rPr>
              <a:t>Hapi Prime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50932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US$9.99/mo — real-time prices, instant settlement,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01 · PRODUCT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Infrastructure &amp;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03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Technology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06039"/>
            <a:ext cx="512064" cy="512064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624327"/>
            <a:ext cx="5120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7" y="2578608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Clearing &amp; Custody → Apex Clearing Corp
   (same infra as major US brokers)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74719"/>
            <a:ext cx="512064" cy="512064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493007"/>
            <a:ext cx="5120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7" y="3447287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Crypto → Bakkt Crypto Solutions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343400"/>
            <a:ext cx="512064" cy="512064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61688"/>
            <a:ext cx="5120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7" y="4315968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2-Factor Authentication + end-to-end encryption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212080"/>
            <a:ext cx="512064" cy="512064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230368"/>
            <a:ext cx="51206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7" y="5184648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Only 37 employees — outsourcing enables scale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965960"/>
            <a:ext cx="5440680" cy="4434840"/>
          </a:xfrm>
          <a:prstGeom prst="rect">
            <a:avLst/>
          </a:prstGeom>
          <a:solidFill>
            <a:srgbClr val="F5F6FA"/>
          </a:solidFill>
          <a:ln w="1016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08483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Regulatory Protection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578608"/>
            <a:ext cx="1737360" cy="384048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2642615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SEC Registered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67004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Hapi Securities LLC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547872"/>
            <a:ext cx="1737360" cy="38404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611879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FINRA Member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63931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 broker-dealer rules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4517136"/>
            <a:ext cx="1737360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458114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SIPC Coverage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608575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Up to US$500,000 per account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486400"/>
            <a:ext cx="173736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555040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  Crypto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57784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NOT covered by SIPC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5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868680"/>
            <a:ext cx="256032" cy="4572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56032" cy="45720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5"/>
                </a:solidFill>
              </a:rPr>
              <a:t>02 · 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417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A $15B market
still untapped.</a:t>
            </a:r>
          </a:p>
        </p:txBody>
      </p:sp>
      <p:pic>
        <p:nvPicPr>
          <p:cNvPr id="8" name="Picture 7" descr="bg_la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31520"/>
            <a:ext cx="5029200" cy="5669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41148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8C8DC"/>
                </a:solidFill>
              </a:rPr>
              <a:t>~90% of banking assets in 5 institutions.
Small investors ignored. Local currencies losing value.
Hapi fixes all three.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02 ·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Market Opportunity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3703320" cy="164592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US$15.23B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92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LATAM Fintech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IMARC Group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103120"/>
            <a:ext cx="3703320" cy="16459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76272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~90%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992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Banking controlled by 5 institutions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4747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Mordor Intelligence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79" y="2103120"/>
            <a:ext cx="3703320" cy="164592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176272"/>
            <a:ext cx="3429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9923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Users targeted by Hapi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747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8E6E6"/>
                </a:solidFill>
              </a:rPr>
              <a:t>CEO target, Gestión 2025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77639"/>
            <a:ext cx="11521440" cy="36576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096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Why the timing is right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507992"/>
            <a:ext cx="566928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99431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Rising smartphone &amp; internet penetration across 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507992"/>
            <a:ext cx="566928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599431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Local currencies losing value → demand for USD-denominated assets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102352"/>
            <a:ext cx="566928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937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Growing financial literacy — new generation of retail investors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5102352"/>
            <a:ext cx="5669280" cy="502920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51937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Traditional banks never cared about small investors — structural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03 · COMPETITIVE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Competitive Landscape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84831"/>
            <a:ext cx="219456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213055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2084831"/>
            <a:ext cx="91440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213055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2152" y="2084831"/>
            <a:ext cx="123444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2130551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Commission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2084831"/>
            <a:ext cx="114300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2130551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SIPC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52744" y="2084831"/>
            <a:ext cx="123444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2130551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LATAM
Focus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2084831"/>
            <a:ext cx="109728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79" y="213055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Fractional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57615" y="2084831"/>
            <a:ext cx="1143000" cy="47548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03336" y="2130551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596896"/>
            <a:ext cx="2194560" cy="475488"/>
          </a:xfrm>
          <a:prstGeom prst="rect">
            <a:avLst/>
          </a:prstGeom>
          <a:solidFill>
            <a:srgbClr val="EBE6FF"/>
          </a:solidFill>
          <a:ln w="1905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268833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FF"/>
                </a:solidFill>
              </a:rPr>
              <a:t>Hapi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51176" y="2596896"/>
            <a:ext cx="914400" cy="475488"/>
          </a:xfrm>
          <a:prstGeom prst="rect">
            <a:avLst/>
          </a:prstGeom>
          <a:solidFill>
            <a:srgbClr val="EBE6FF"/>
          </a:solidFill>
          <a:ln w="1905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268833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FF"/>
                </a:solidFill>
              </a:rPr>
              <a:t>US$5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02152" y="2596896"/>
            <a:ext cx="1234440" cy="475488"/>
          </a:xfrm>
          <a:prstGeom prst="rect">
            <a:avLst/>
          </a:prstGeom>
          <a:solidFill>
            <a:srgbClr val="EBE6FF"/>
          </a:solidFill>
          <a:ln w="1905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47872" y="268833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FF"/>
                </a:solidFill>
              </a:rPr>
              <a:t>Zero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73168" y="2596896"/>
            <a:ext cx="1143000" cy="475488"/>
          </a:xfrm>
          <a:prstGeom prst="rect">
            <a:avLst/>
          </a:prstGeom>
          <a:solidFill>
            <a:srgbClr val="EBE6FF"/>
          </a:solidFill>
          <a:ln w="1905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8888" y="268833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FF"/>
                </a:solidFill>
              </a:rPr>
              <a:t>✔ $500K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52744" y="2596896"/>
            <a:ext cx="1234440" cy="475488"/>
          </a:xfrm>
          <a:prstGeom prst="rect">
            <a:avLst/>
          </a:prstGeom>
          <a:solidFill>
            <a:srgbClr val="EBE6FF"/>
          </a:solidFill>
          <a:ln w="1905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268833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FF"/>
                </a:solidFill>
              </a:rPr>
              <a:t>✔ Primary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59" y="2596896"/>
            <a:ext cx="1097280" cy="475488"/>
          </a:xfrm>
          <a:prstGeom prst="rect">
            <a:avLst/>
          </a:prstGeom>
          <a:solidFill>
            <a:srgbClr val="EBE6FF"/>
          </a:solidFill>
          <a:ln w="1905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79" y="2688336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FF"/>
                </a:solidFill>
              </a:rPr>
              <a:t>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57615" y="2596896"/>
            <a:ext cx="1143000" cy="475488"/>
          </a:xfrm>
          <a:prstGeom prst="rect">
            <a:avLst/>
          </a:prstGeom>
          <a:solidFill>
            <a:srgbClr val="EBE6FF"/>
          </a:solidFill>
          <a:ln w="1905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6" y="268833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3FFF"/>
                </a:solidFill>
              </a:rPr>
              <a:t>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108960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59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Interactive Brokers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51176" y="3108960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96896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US$0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02152" y="3108960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47872" y="3200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3168" y="3108960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18888" y="320040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 $500K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52744" y="3108960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98464" y="3200400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23759" y="3108960"/>
            <a:ext cx="1097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79" y="3200400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57615" y="3108960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03336" y="320040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3545"/>
                </a:solidFill>
              </a:rPr>
              <a:t>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621024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59" y="3712463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Charles Schwab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51176" y="3621024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96896" y="3712463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US$0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02152" y="3621024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47872" y="3712463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Zero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73168" y="3621024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18888" y="3712463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 $500K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52744" y="3621024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98464" y="3712463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3545"/>
                </a:solidFill>
              </a:rPr>
              <a:t>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23759" y="3621024"/>
            <a:ext cx="1097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69479" y="3712463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57615" y="3621024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03336" y="3712463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133087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59" y="422452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XTB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51176" y="4133087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96896" y="4224527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US$0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02152" y="4133087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47872" y="4224527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Zero*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773168" y="4133087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818888" y="4224527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3545"/>
                </a:solidFill>
              </a:rPr>
              <a:t>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52744" y="4133087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998464" y="4224527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23759" y="4133087"/>
            <a:ext cx="1097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69479" y="4224527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57615" y="4133087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03336" y="4224527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4645152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5759" y="47365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eToro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51176" y="464515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96896" y="47365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US$10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02152" y="4645152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47872" y="473659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Zero*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773168" y="4645152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18888" y="473659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3545"/>
                </a:solidFill>
              </a:rPr>
              <a:t>✘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52744" y="4645152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98464" y="4736592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23759" y="4645152"/>
            <a:ext cx="1097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269479" y="473659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357615" y="4645152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403336" y="473659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" y="5157216"/>
            <a:ext cx="21945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5759" y="52486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Trii / Tyba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551176" y="515721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96896" y="524865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502152" y="5157216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47872" y="524865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773168" y="5157216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18888" y="524865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C3545"/>
                </a:solidFill>
              </a:rPr>
              <a:t>✘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52744" y="5157216"/>
            <a:ext cx="1234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998464" y="5248656"/>
            <a:ext cx="1143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 Local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23759" y="5157216"/>
            <a:ext cx="10972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69479" y="5248656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Ltd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357615" y="5157216"/>
            <a:ext cx="1143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03336" y="524865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040" y="6263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* Zero commission on stocks, but spreads may apply</a:t>
            </a:r>
          </a:p>
        </p:txBody>
      </p:sp>
      <p:pic>
        <p:nvPicPr>
          <p:cNvPr id="109" name="Picture 108" descr="chart_compet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0574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5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7472" y="868680"/>
            <a:ext cx="256032" cy="4572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868680"/>
            <a:ext cx="256032" cy="45720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005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B5"/>
                </a:solidFill>
              </a:rPr>
              <a:t>04 ·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417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Zero commissions.
Multiple revenue streams.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11480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2B5"/>
                </a:solidFill>
              </a:rPr>
              <a:t>"The company makes money in several ways —
so it doesn't depend on just one."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04 ·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Revenue Streams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1865376" cy="475488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157984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Payment for
Order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78608"/>
            <a:ext cx="1865376" cy="1581912"/>
          </a:xfrm>
          <a:prstGeom prst="rect">
            <a:avLst/>
          </a:prstGeom>
          <a:solidFill>
            <a:srgbClr val="FFFFFF"/>
          </a:solidFill>
          <a:ln w="1524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670048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Fees from routing orders
to exchanges (PFOF)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" y="3364991"/>
            <a:ext cx="694944" cy="402336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419856"/>
            <a:ext cx="694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~35%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58568" y="2103120"/>
            <a:ext cx="1865376" cy="47548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157984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Hapi Prime
US$9.99/mo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58568" y="2578608"/>
            <a:ext cx="1865376" cy="15819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670048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Real-time prices, instant
settlement, alerts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43784" y="3364991"/>
            <a:ext cx="694944" cy="402336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43784" y="3419856"/>
            <a:ext cx="694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~25%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7096" y="2103120"/>
            <a:ext cx="1865376" cy="475488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2157984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Deposit &amp;
Withdrawal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7096" y="2578608"/>
            <a:ext cx="1865376" cy="1581912"/>
          </a:xfrm>
          <a:prstGeom prst="rect">
            <a:avLst/>
          </a:prstGeom>
          <a:solidFill>
            <a:srgbClr val="FFFFFF"/>
          </a:solidFill>
          <a:ln w="15240">
            <a:solidFill>
              <a:srgbClr val="F0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8536" y="2670048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0.9–1% on deposits
US$4.99–$10 withdrawals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82312" y="3364991"/>
            <a:ext cx="694944" cy="402336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3419856"/>
            <a:ext cx="694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~15%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35624" y="2103120"/>
            <a:ext cx="1865376" cy="47548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2157984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Idle Cash
Interest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35624" y="2578608"/>
            <a:ext cx="1865376" cy="1581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7064" y="2670048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Yield on uninvested
cash in accounts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3364991"/>
            <a:ext cx="694944" cy="402336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419856"/>
            <a:ext cx="694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~12%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2103120"/>
            <a:ext cx="1865376" cy="475488"/>
          </a:xfrm>
          <a:prstGeom prst="rect">
            <a:avLst/>
          </a:prstGeom>
          <a:solidFill>
            <a:srgbClr val="64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7304" y="2157984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Crypto
Spread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4152" y="2578608"/>
            <a:ext cx="1865376" cy="1581912"/>
          </a:xfrm>
          <a:prstGeom prst="rect">
            <a:avLst/>
          </a:prstGeom>
          <a:solidFill>
            <a:srgbClr val="FFFFFF"/>
          </a:solidFill>
          <a:ln w="15240">
            <a:solidFill>
              <a:srgbClr val="643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2670048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1% via Bakkt on
all crypto trades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59367" y="3364991"/>
            <a:ext cx="694944" cy="402336"/>
          </a:xfrm>
          <a:prstGeom prst="rect">
            <a:avLst/>
          </a:prstGeom>
          <a:solidFill>
            <a:srgbClr val="643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9367" y="3419856"/>
            <a:ext cx="694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~8%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2103120"/>
            <a:ext cx="1865376" cy="475488"/>
          </a:xfrm>
          <a:prstGeom prst="rect">
            <a:avLst/>
          </a:prstGeom>
          <a:solidFill>
            <a:srgbClr val="64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5832" y="2157984"/>
            <a:ext cx="17190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Closing
Fees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12680" y="2578608"/>
            <a:ext cx="1865376" cy="1581912"/>
          </a:xfrm>
          <a:prstGeom prst="rect">
            <a:avLst/>
          </a:prstGeom>
          <a:solidFill>
            <a:srgbClr val="FFFFFF"/>
          </a:solidFill>
          <a:ln w="15240">
            <a:solidFill>
              <a:srgbClr val="64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04120" y="2670048"/>
            <a:ext cx="16824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US$0.10 – $0.15
per trade close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597896" y="3364991"/>
            <a:ext cx="694944" cy="402336"/>
          </a:xfrm>
          <a:prstGeom prst="rect">
            <a:avLst/>
          </a:prstGeom>
          <a:solidFill>
            <a:srgbClr val="64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97896" y="3419856"/>
            <a:ext cx="694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~5%</a:t>
            </a:r>
          </a:p>
        </p:txBody>
      </p:sp>
      <p:pic>
        <p:nvPicPr>
          <p:cNvPr id="46" name="Picture 45" descr="char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251960"/>
            <a:ext cx="5029200" cy="246888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320040" y="4297680"/>
            <a:ext cx="3200400" cy="1737360"/>
          </a:xfrm>
          <a:prstGeom prst="rect">
            <a:avLst/>
          </a:prstGeom>
          <a:solidFill>
            <a:srgbClr val="F5F6FA"/>
          </a:solidFill>
          <a:ln w="1524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4165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3FFF"/>
                </a:solidFill>
              </a:rPr>
              <a:t>Key Model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800600"/>
            <a:ext cx="292608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Average position:
~US$250 per user
Monetizes through
volume &amp; scale —
not trade size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626364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⚠  PFOF controversy: SEC tightened disclosure rules (605/606). Restricted in EU by ESMA.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05 · CUSTOMER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Customer Segments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3749039" cy="59436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2140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Beginner
Investors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51760"/>
            <a:ext cx="3749039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" y="2834640"/>
            <a:ext cx="347472" cy="347472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28803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Everyday retail users,
students, young professionals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" y="3675888"/>
            <a:ext cx="347472" cy="347472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" y="372160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Zero-commission + fractional
shares → start with US$5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4517136"/>
            <a:ext cx="347472" cy="347472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456285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17136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Mobile-first, simple 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" y="5358384"/>
            <a:ext cx="347472" cy="347472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540410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5838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Financial education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2057400"/>
            <a:ext cx="3749039" cy="59436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103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12140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Long-term
Retail Investors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2651760"/>
            <a:ext cx="3749039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1" y="2834640"/>
            <a:ext cx="347472" cy="34747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1" y="28803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More experienced portfolio builders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1" y="3675888"/>
            <a:ext cx="347472" cy="34747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70831" y="372160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67588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USD exposure vs. local currency risk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70831" y="4517136"/>
            <a:ext cx="347472" cy="34747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1" y="456285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4517136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SIPC protection up to US$500K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70831" y="5358384"/>
            <a:ext cx="347472" cy="34747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1" y="540410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535838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ETFs + DRIP for passive wealth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92440" y="2057400"/>
            <a:ext cx="3749039" cy="594360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21031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12140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Crypto
Enthusiasts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2651760"/>
            <a:ext cx="3749039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0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57031" y="2834640"/>
            <a:ext cx="347472" cy="34747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288036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0" y="28346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Tech-savvy, digital-native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57031" y="3675888"/>
            <a:ext cx="347472" cy="34747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1" y="372160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67588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Invest from US$1 in crypto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57031" y="4517136"/>
            <a:ext cx="347472" cy="34747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57031" y="456285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517136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One app: stocks + crypto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57031" y="5358384"/>
            <a:ext cx="347472" cy="34747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57031" y="540410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5358384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Note: crypto not SIPC-covered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3FFF"/>
                </a:solidFill>
              </a:rPr>
              <a:t>"Invest in the world's biggest market from your phone — from US$5, in minutes, with US regulatory protection."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06 · KEY METRICS &amp;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Key Metrics &amp; Funding</a:t>
            </a:r>
          </a:p>
        </p:txBody>
      </p:sp>
      <p:pic>
        <p:nvPicPr>
          <p:cNvPr id="10" name="Picture 9" descr="char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29968"/>
            <a:ext cx="5943600" cy="3703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92240" y="2029968"/>
            <a:ext cx="5376672" cy="3703320"/>
          </a:xfrm>
          <a:prstGeom prst="rect">
            <a:avLst/>
          </a:prstGeom>
          <a:solidFill>
            <a:srgbClr val="F5F6FA"/>
          </a:solidFill>
          <a:ln w="1016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Key Numbers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606040"/>
            <a:ext cx="4983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2715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AUM: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791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FF"/>
                </a:solidFill>
              </a:rPr>
              <a:t>~US$40M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266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as of Nov 2023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3392424"/>
            <a:ext cx="4983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79" y="35021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Total Raised: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655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FF"/>
                </a:solidFill>
              </a:rPr>
              <a:t>US$4.3M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130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across all rounds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178808"/>
            <a:ext cx="4983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79" y="428853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Avg. Position: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FF"/>
                </a:solidFill>
              </a:rPr>
              <a:t>~US$250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5994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per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965192"/>
            <a:ext cx="4983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79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</a:rPr>
              <a:t>Growth: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03834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3FFF"/>
                </a:solidFill>
              </a:rPr>
              <a:t>10K → 300K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8581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in 13 months (2022-23)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870448"/>
            <a:ext cx="11521440" cy="36576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5989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Funding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5989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FF"/>
                </a:solidFill>
              </a:rPr>
              <a:t>Sep 2023  ·  US$1.6M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6281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Utec Ventures · Unpopular Ventures · Softeq Ventures · Mural Capital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98932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3FFF"/>
                </a:solidFill>
              </a:rPr>
              <a:t>Total Raised  ·  US$4.3M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62819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66"/>
                </a:solidFill>
              </a:rPr>
              <a:t>Seed + angel rounds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07 · SWOT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SWOT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8"/>
            <a:ext cx="5623560" cy="43891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2140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68880"/>
            <a:ext cx="5623560" cy="1709928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3288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Zero commissions + fractional shares from US$5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712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SEC/FINRA registered + SIPC up to US$500K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0954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20+ LATAM countries · Spanish/Portuguese 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&lt; 5 min sign-up · mobile-first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12,000+ instruments + crypto in one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029968"/>
            <a:ext cx="5623560" cy="438912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12140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WEAKNESSES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468880"/>
            <a:ext cx="5623560" cy="1709928"/>
          </a:xfrm>
          <a:prstGeom prst="rect">
            <a:avLst/>
          </a:prstGeom>
          <a:solidFill>
            <a:srgbClr val="FFFFFF"/>
          </a:solidFill>
          <a:ln w="1524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53288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Low brand awareness outside LATAM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712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Limited advanced tools for expert traders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20954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Small team (37) — scalability pressure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547872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PFOF model faces regulatory scrutiny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8862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Crypto holdings not covered by SIPC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34840"/>
            <a:ext cx="5623560" cy="43891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2627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OPPORTUNITIES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873752"/>
            <a:ext cx="5623560" cy="1709928"/>
          </a:xfrm>
          <a:prstGeom prst="rect">
            <a:avLst/>
          </a:prstGeom>
          <a:solidFill>
            <a:srgbClr val="FFFFFF"/>
          </a:solidFill>
          <a:ln w="15240">
            <a:solidFill>
              <a:srgbClr val="00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37759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LATAM fintech market still growing fast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7608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Currency devaluation drives USD-asset demand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144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Rising smartphone &amp; internet penetration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95274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Huge unbanked/underinvested user 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91071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Expand financial education &amp; 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434840"/>
            <a:ext cx="5623560" cy="43891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52627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THREATS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4873752"/>
            <a:ext cx="5623560" cy="1709928"/>
          </a:xfrm>
          <a:prstGeom prst="rect">
            <a:avLst/>
          </a:prstGeom>
          <a:solidFill>
            <a:srgbClr val="FFFFFF"/>
          </a:solidFill>
          <a:ln w="15240">
            <a:solidFill>
              <a:srgbClr val="F0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937759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Global brokers entering LATAM (Schwab, IBKR)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276088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Regulatory fragmentation across 20+ countries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6144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PFOF restrictions could cut primary revenue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5952744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Local fintechs (Trii, Tyba) accelerating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291071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</a:rPr>
              <a:t>▸  US market downturns erode user confidence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"/>
            <a:ext cx="1218895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66"/>
                </a:solidFill>
              </a:rPr>
              <a:t>08 · STRATEGIC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548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66"/>
                </a:solidFill>
              </a:rPr>
              <a:t>hapi · Case Study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005840"/>
            <a:ext cx="301752" cy="50292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005840"/>
            <a:ext cx="301752" cy="50292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11556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</a:rPr>
              <a:t>Strategic Outlook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2743200" cy="475488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1579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Scale to
1M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78608"/>
            <a:ext cx="2743200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6B3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697479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Education + referrals
+ new country launches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9544" y="2103120"/>
            <a:ext cx="2743200" cy="475488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00984" y="21579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Diversify
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2578608"/>
            <a:ext cx="2743200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00C2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2697479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Grow Prime subscriptions
+ reduce PFOF reliance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8" y="2103120"/>
            <a:ext cx="2743200" cy="47548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0488" y="21579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Regulatory
Trust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8" y="2578608"/>
            <a:ext cx="2743200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697479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Maintain SEC/FINRA standing
Navigate multi-country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88552" y="2103120"/>
            <a:ext cx="2743200" cy="475488"/>
          </a:xfrm>
          <a:prstGeom prst="rect">
            <a:avLst/>
          </a:prstGeom>
          <a:solidFill>
            <a:srgbClr val="F0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9992" y="21579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Product
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8552" y="2578608"/>
            <a:ext cx="2743200" cy="1444752"/>
          </a:xfrm>
          <a:prstGeom prst="rect">
            <a:avLst/>
          </a:prstGeom>
          <a:solidFill>
            <a:srgbClr val="FFFFFF"/>
          </a:solidFill>
          <a:ln w="15240">
            <a:solidFill>
              <a:srgbClr val="F07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79992" y="2697479"/>
            <a:ext cx="2560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Add tools for intermediate
&amp; expert traders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233672"/>
            <a:ext cx="1152144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3525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Challenges to Navigate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73168"/>
            <a:ext cx="5669280" cy="530352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4864607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Differentiate before global brokers replicate the LATAM-first approach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773168"/>
            <a:ext cx="5669280" cy="530352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81928" y="4864607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Continue investing in financial education to convert and retain users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94959"/>
            <a:ext cx="5669280" cy="530352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5486399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Diversify revenue to reduce exposure to PFOF regulatory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5394959"/>
            <a:ext cx="5669280" cy="530352"/>
          </a:xfrm>
          <a:prstGeom prst="rect">
            <a:avLst/>
          </a:prstGeom>
          <a:solidFill>
            <a:srgbClr val="F5F6FA"/>
          </a:solidFill>
          <a:ln w="6350">
            <a:solidFill>
              <a:srgbClr val="DC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5486399"/>
            <a:ext cx="5440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→  Manage multi-country compliance without blowing up cost structure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537960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3FFF"/>
                </a:solidFill>
              </a:rPr>
              <a:t>"The platform that wins LATAM earns trust first — through regulation, education, and a UX that feels local."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53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" y="0"/>
            <a:ext cx="54864" cy="6858000"/>
          </a:xfrm>
          <a:prstGeom prst="rect">
            <a:avLst/>
          </a:prstGeom>
          <a:solidFill>
            <a:srgbClr val="00C2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4800"/>
            <a:ext cx="12188952" cy="2743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E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p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3108960" cy="9326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600200"/>
            <a:ext cx="5029200" cy="45720"/>
          </a:xfrm>
          <a:prstGeom prst="rect">
            <a:avLst/>
          </a:prstGeom>
          <a:solidFill>
            <a:srgbClr val="6B3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00C2B5"/>
                </a:solidFill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4B4D2"/>
                </a:solidFill>
              </a:rPr>
              <a:t>Daniel Taboada  ·  Benjamin Pereyra  ·  Luis Sanchez  ·  Jorge Ramirez  ·  Santiago Wiesse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282A5"/>
                </a:solidFill>
              </a:rPr>
              <a:t>Universidad del Pacífico  ·  Sem. Fintech  ·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2B5"/>
                </a:solidFill>
              </a:rPr>
              <a:t>hapi.trade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